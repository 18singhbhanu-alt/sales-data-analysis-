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presentation.xlsx]Sales trend graph!PivotTable1</c:name>
    <c:fmtId val="32"/>
  </c:pivotSource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3200" b="0" i="0" u="none" strike="noStrike" kern="1200" cap="none" spc="2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IN" sz="3200" baseline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SALES TREND BY YEAR</a:t>
            </a:r>
          </a:p>
        </c:rich>
      </c:tx>
      <c:layout>
        <c:manualLayout>
          <c:xMode val="edge"/>
          <c:yMode val="edge"/>
          <c:x val="9.2599618374679948E-2"/>
          <c:y val="1.2928459278055105E-2"/>
        </c:manualLayout>
      </c:layout>
      <c:overlay val="0"/>
      <c:spPr>
        <a:solidFill>
          <a:schemeClr val="lt1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3200" b="0" i="0" u="none" strike="noStrike" kern="1200" cap="none" spc="2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  <c:pivotFmt>
        <c:idx val="3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  <c:pivotFmt>
        <c:idx val="4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  <c:pivotFmt>
        <c:idx val="6"/>
        <c:spPr>
          <a:gradFill rotWithShape="1">
            <a:gsLst>
              <a:gs pos="0">
                <a:schemeClr val="accent1">
                  <a:tint val="60000"/>
                  <a:lumMod val="110000"/>
                </a:schemeClr>
              </a:gs>
              <a:gs pos="100000">
                <a:schemeClr val="accent1">
                  <a:tint val="82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tint val="60000"/>
                  <a:lumMod val="110000"/>
                </a:schemeClr>
              </a:gs>
              <a:gs pos="100000">
                <a:schemeClr val="accent1">
                  <a:tint val="82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</c:pivotFmts>
    <c:plotArea>
      <c:layout>
        <c:manualLayout>
          <c:layoutTarget val="inner"/>
          <c:xMode val="edge"/>
          <c:yMode val="edge"/>
          <c:x val="0.13545575484383574"/>
          <c:y val="0.33460039587143081"/>
          <c:w val="0.7688431210552642"/>
          <c:h val="0.3989089384660251"/>
        </c:manualLayout>
      </c:layout>
      <c:lineChart>
        <c:grouping val="stacked"/>
        <c:varyColors val="0"/>
        <c:ser>
          <c:idx val="0"/>
          <c:order val="0"/>
          <c:tx>
            <c:strRef>
              <c:f>'Sales trend graph'!$B$3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round/>
              </a:ln>
              <a:effectLst/>
            </c:spPr>
          </c:marker>
          <c:dPt>
            <c:idx val="9"/>
            <c:marker>
              <c:symbol val="circle"/>
              <c:size val="4"/>
              <c:spPr>
                <a:solidFill>
                  <a:schemeClr val="accent1"/>
                </a:solidFill>
                <a:ln w="9525" cap="flat" cmpd="sng" algn="ctr">
                  <a:solidFill>
                    <a:schemeClr val="accent1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5630-4FAD-8B4D-181B7CD3E4F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'Sales trend graph'!$A$4:$A$22</c:f>
              <c:multiLvlStrCache>
                <c:ptCount val="14"/>
                <c:lvl>
                  <c:pt idx="0">
                    <c:v>Qtr2</c:v>
                  </c:pt>
                  <c:pt idx="1">
                    <c:v>Qtr3</c:v>
                  </c:pt>
                  <c:pt idx="2">
                    <c:v>Qtr4</c:v>
                  </c:pt>
                  <c:pt idx="3">
                    <c:v>Qtr1</c:v>
                  </c:pt>
                  <c:pt idx="4">
                    <c:v>Qtr2</c:v>
                  </c:pt>
                  <c:pt idx="5">
                    <c:v>Qtr3</c:v>
                  </c:pt>
                  <c:pt idx="6">
                    <c:v>Qtr4</c:v>
                  </c:pt>
                  <c:pt idx="7">
                    <c:v>Qtr1</c:v>
                  </c:pt>
                  <c:pt idx="8">
                    <c:v>Qtr2</c:v>
                  </c:pt>
                  <c:pt idx="9">
                    <c:v>Qtr3</c:v>
                  </c:pt>
                  <c:pt idx="10">
                    <c:v>Qtr4</c:v>
                  </c:pt>
                  <c:pt idx="11">
                    <c:v>Qtr2</c:v>
                  </c:pt>
                  <c:pt idx="12">
                    <c:v>Qtr3</c:v>
                  </c:pt>
                  <c:pt idx="13">
                    <c:v>Qtr4</c:v>
                  </c:pt>
                </c:lvl>
                <c:lvl>
                  <c:pt idx="0">
                    <c:v>2014</c:v>
                  </c:pt>
                  <c:pt idx="3">
                    <c:v>2015</c:v>
                  </c:pt>
                  <c:pt idx="7">
                    <c:v>2016</c:v>
                  </c:pt>
                  <c:pt idx="11">
                    <c:v>2017</c:v>
                  </c:pt>
                </c:lvl>
              </c:multiLvlStrCache>
            </c:multiLvlStrRef>
          </c:cat>
          <c:val>
            <c:numRef>
              <c:f>'Sales trend graph'!$B$4:$B$22</c:f>
              <c:numCache>
                <c:formatCode>0</c:formatCode>
                <c:ptCount val="14"/>
                <c:pt idx="0">
                  <c:v>3769.8040000000001</c:v>
                </c:pt>
                <c:pt idx="1">
                  <c:v>244.76000000000002</c:v>
                </c:pt>
                <c:pt idx="2">
                  <c:v>2214.422</c:v>
                </c:pt>
                <c:pt idx="3">
                  <c:v>99.260000000000019</c:v>
                </c:pt>
                <c:pt idx="4">
                  <c:v>1424.4250000000002</c:v>
                </c:pt>
                <c:pt idx="5">
                  <c:v>4575.0480000000016</c:v>
                </c:pt>
                <c:pt idx="6">
                  <c:v>2546.5467000000003</c:v>
                </c:pt>
                <c:pt idx="7">
                  <c:v>165.65800000000002</c:v>
                </c:pt>
                <c:pt idx="8">
                  <c:v>1195.6579999999997</c:v>
                </c:pt>
                <c:pt idx="9">
                  <c:v>260.53999999999996</c:v>
                </c:pt>
                <c:pt idx="10">
                  <c:v>3815.3500000000004</c:v>
                </c:pt>
                <c:pt idx="11">
                  <c:v>368.82400000000001</c:v>
                </c:pt>
                <c:pt idx="12">
                  <c:v>333.20600000000002</c:v>
                </c:pt>
                <c:pt idx="13">
                  <c:v>426.40600000000006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30-4FAD-8B4D-181B7CD3E4F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marker val="1"/>
        <c:smooth val="0"/>
        <c:axId val="475334768"/>
        <c:axId val="475330192"/>
      </c:lineChart>
      <c:catAx>
        <c:axId val="475334768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5330192"/>
        <c:crosses val="autoZero"/>
        <c:auto val="1"/>
        <c:lblAlgn val="ctr"/>
        <c:lblOffset val="100"/>
        <c:noMultiLvlLbl val="0"/>
      </c:catAx>
      <c:valAx>
        <c:axId val="4753301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 Title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533476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dk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presentation.xlsx]working 1!PivotTable1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sub</a:t>
            </a:r>
            <a:r>
              <a:rPr lang="en-US" baseline="0"/>
              <a:t> category wise qty</a:t>
            </a:r>
          </a:p>
          <a:p>
            <a:pPr>
              <a:defRPr/>
            </a:pPr>
            <a:r>
              <a:rPr lang="en-US" baseline="0"/>
              <a:t>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'working 1'!$B$3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'working 1'!$A$4:$A$18</c:f>
              <c:strCache>
                <c:ptCount val="14"/>
                <c:pt idx="0">
                  <c:v>Accessories</c:v>
                </c:pt>
                <c:pt idx="1">
                  <c:v>Appliances</c:v>
                </c:pt>
                <c:pt idx="2">
                  <c:v>Art</c:v>
                </c:pt>
                <c:pt idx="3">
                  <c:v>Binders</c:v>
                </c:pt>
                <c:pt idx="4">
                  <c:v>Bookcases</c:v>
                </c:pt>
                <c:pt idx="5">
                  <c:v>Chairs</c:v>
                </c:pt>
                <c:pt idx="6">
                  <c:v>Envelopes</c:v>
                </c:pt>
                <c:pt idx="7">
                  <c:v>Fasteners</c:v>
                </c:pt>
                <c:pt idx="8">
                  <c:v>Furnishings</c:v>
                </c:pt>
                <c:pt idx="9">
                  <c:v>Labels</c:v>
                </c:pt>
                <c:pt idx="10">
                  <c:v>Paper</c:v>
                </c:pt>
                <c:pt idx="11">
                  <c:v>Phones</c:v>
                </c:pt>
                <c:pt idx="12">
                  <c:v>Storage</c:v>
                </c:pt>
                <c:pt idx="13">
                  <c:v>Tables</c:v>
                </c:pt>
              </c:strCache>
            </c:strRef>
          </c:cat>
          <c:val>
            <c:numRef>
              <c:f>'working 1'!$B$4:$B$18</c:f>
              <c:numCache>
                <c:formatCode>General</c:formatCode>
                <c:ptCount val="14"/>
                <c:pt idx="0">
                  <c:v>13</c:v>
                </c:pt>
                <c:pt idx="1">
                  <c:v>24</c:v>
                </c:pt>
                <c:pt idx="2">
                  <c:v>38</c:v>
                </c:pt>
                <c:pt idx="3">
                  <c:v>54</c:v>
                </c:pt>
                <c:pt idx="4">
                  <c:v>12</c:v>
                </c:pt>
                <c:pt idx="5">
                  <c:v>29</c:v>
                </c:pt>
                <c:pt idx="6">
                  <c:v>18</c:v>
                </c:pt>
                <c:pt idx="7">
                  <c:v>7</c:v>
                </c:pt>
                <c:pt idx="8">
                  <c:v>41</c:v>
                </c:pt>
                <c:pt idx="9">
                  <c:v>10</c:v>
                </c:pt>
                <c:pt idx="10">
                  <c:v>24</c:v>
                </c:pt>
                <c:pt idx="11">
                  <c:v>41</c:v>
                </c:pt>
                <c:pt idx="12">
                  <c:v>39</c:v>
                </c:pt>
                <c:pt idx="1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36-47A9-95ED-8C0FF6415A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992459823"/>
        <c:axId val="1992458159"/>
      </c:barChart>
      <c:catAx>
        <c:axId val="19924598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2458159"/>
        <c:crosses val="autoZero"/>
        <c:auto val="1"/>
        <c:lblAlgn val="ctr"/>
        <c:lblOffset val="100"/>
        <c:noMultiLvlLbl val="0"/>
      </c:catAx>
      <c:valAx>
        <c:axId val="199245815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92459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presentation.xlsx]working 3!PivotTable3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segment wise qty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7031627296587928"/>
          <c:y val="0.24939596092155147"/>
          <c:w val="0.41147353455818025"/>
          <c:h val="0.68578922426363376"/>
        </c:manualLayout>
      </c:layout>
      <c:doughnutChart>
        <c:varyColors val="1"/>
        <c:ser>
          <c:idx val="0"/>
          <c:order val="0"/>
          <c:tx>
            <c:strRef>
              <c:f>'working 3'!$B$3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BFB-4F56-9B9B-4C7A3CC96021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BFB-4F56-9B9B-4C7A3CC96021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BFB-4F56-9B9B-4C7A3CC96021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'working 3'!$A$4:$A$7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'working 3'!$B$4:$B$7</c:f>
              <c:numCache>
                <c:formatCode>General</c:formatCode>
                <c:ptCount val="3"/>
                <c:pt idx="0">
                  <c:v>218</c:v>
                </c:pt>
                <c:pt idx="1">
                  <c:v>96</c:v>
                </c:pt>
                <c:pt idx="2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FB-4F56-9B9B-4C7A3CC960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832077444971595"/>
          <c:y val="4.8554995976115498E-2"/>
          <c:w val="0.17506967510237106"/>
          <c:h val="0.717061380920483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presentation.xlsx]working 4!PivotTable4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region wise profit</a:t>
            </a:r>
          </a:p>
        </c:rich>
      </c:tx>
      <c:layout>
        <c:manualLayout>
          <c:xMode val="edge"/>
          <c:yMode val="edge"/>
          <c:x val="0.24373367967408374"/>
          <c:y val="5.53050112033313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13017953961870196"/>
          <c:y val="0.17321965738249812"/>
          <c:w val="0.46926099020611944"/>
          <c:h val="0.79795371458547659"/>
        </c:manualLayout>
      </c:layout>
      <c:doughnutChart>
        <c:varyColors val="1"/>
        <c:ser>
          <c:idx val="0"/>
          <c:order val="0"/>
          <c:tx>
            <c:strRef>
              <c:f>'working 4'!$B$3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677-4A98-B622-80304961D53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677-4A98-B622-80304961D53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677-4A98-B622-80304961D53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6677-4A98-B622-80304961D535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'working 4'!$A$4:$A$8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'working 4'!$B$4:$B$8</c:f>
              <c:numCache>
                <c:formatCode>0</c:formatCode>
                <c:ptCount val="4"/>
                <c:pt idx="0">
                  <c:v>43.44019999999977</c:v>
                </c:pt>
                <c:pt idx="1">
                  <c:v>-1188.4077</c:v>
                </c:pt>
                <c:pt idx="2">
                  <c:v>-39.463300000000118</c:v>
                </c:pt>
                <c:pt idx="3">
                  <c:v>1059.9216999999999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677-4A98-B622-80304961D53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753616718711372"/>
          <c:y val="3.350238686580502E-2"/>
          <c:w val="0.19585428236497329"/>
          <c:h val="0.95993737265225787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/>
              <a:t>bar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752580927384076"/>
          <c:y val="0.15782407407407409"/>
          <c:w val="0.80802974628171476"/>
          <c:h val="0.365900043744531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'tpo 5 Bar chart'!$Q$2</c:f>
              <c:strCache>
                <c:ptCount val="1"/>
                <c:pt idx="0">
                  <c:v>Chromcraft Rectangular Conference Tables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'tpo 5 Bar chart'!$R$1:$U$1</c:f>
              <c:strCache>
                <c:ptCount val="4"/>
                <c:pt idx="0">
                  <c:v>Sales</c:v>
                </c:pt>
                <c:pt idx="1">
                  <c:v>Profit</c:v>
                </c:pt>
                <c:pt idx="2">
                  <c:v>Quantity</c:v>
                </c:pt>
                <c:pt idx="3">
                  <c:v>Discount</c:v>
                </c:pt>
              </c:strCache>
            </c:strRef>
          </c:cat>
          <c:val>
            <c:numRef>
              <c:f>'tpo 5 Bar chart'!$R$2:$U$2</c:f>
              <c:numCache>
                <c:formatCode>_-[$$-409]* #,##0.00_ ;_-[$$-409]* \-#,##0.00\ ;_-[$$-409]* "-"??_ ;_-@_ </c:formatCode>
                <c:ptCount val="4"/>
                <c:pt idx="0">
                  <c:v>1706.1840000000002</c:v>
                </c:pt>
                <c:pt idx="1">
                  <c:v>85.309199999999805</c:v>
                </c:pt>
                <c:pt idx="2" formatCode="General">
                  <c:v>9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C5-4DC4-B47F-CC9563E3E395}"/>
            </c:ext>
          </c:extLst>
        </c:ser>
        <c:ser>
          <c:idx val="1"/>
          <c:order val="1"/>
          <c:tx>
            <c:strRef>
              <c:f>'tpo 5 Bar chart'!$Q$3</c:f>
              <c:strCache>
                <c:ptCount val="1"/>
                <c:pt idx="0">
                  <c:v>Bretford CR4500 Series Slim Rectangular Table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'tpo 5 Bar chart'!$R$1:$U$1</c:f>
              <c:strCache>
                <c:ptCount val="4"/>
                <c:pt idx="0">
                  <c:v>Sales</c:v>
                </c:pt>
                <c:pt idx="1">
                  <c:v>Profit</c:v>
                </c:pt>
                <c:pt idx="2">
                  <c:v>Quantity</c:v>
                </c:pt>
                <c:pt idx="3">
                  <c:v>Discount</c:v>
                </c:pt>
              </c:strCache>
            </c:strRef>
          </c:cat>
          <c:val>
            <c:numRef>
              <c:f>'tpo 5 Bar chart'!$R$3:$U$3</c:f>
              <c:numCache>
                <c:formatCode>_-[$$-409]* #,##0.00_ ;_-[$$-409]* \-#,##0.00\ ;_-[$$-409]* "-"??_ ;_-@_ </c:formatCode>
                <c:ptCount val="4"/>
                <c:pt idx="0">
                  <c:v>1044.6299999999999</c:v>
                </c:pt>
                <c:pt idx="1">
                  <c:v>240.26490000000001</c:v>
                </c:pt>
                <c:pt idx="2" formatCode="General">
                  <c:v>3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C5-4DC4-B47F-CC9563E3E395}"/>
            </c:ext>
          </c:extLst>
        </c:ser>
        <c:ser>
          <c:idx val="2"/>
          <c:order val="2"/>
          <c:tx>
            <c:strRef>
              <c:f>'tpo 5 Bar chart'!$Q$4</c:f>
              <c:strCache>
                <c:ptCount val="1"/>
                <c:pt idx="0">
                  <c:v>Riverside Palais Royal Lawyers Bookcase, Royale Cherry Finish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'tpo 5 Bar chart'!$R$1:$U$1</c:f>
              <c:strCache>
                <c:ptCount val="4"/>
                <c:pt idx="0">
                  <c:v>Sales</c:v>
                </c:pt>
                <c:pt idx="1">
                  <c:v>Profit</c:v>
                </c:pt>
                <c:pt idx="2">
                  <c:v>Quantity</c:v>
                </c:pt>
                <c:pt idx="3">
                  <c:v>Discount</c:v>
                </c:pt>
              </c:strCache>
            </c:strRef>
          </c:cat>
          <c:val>
            <c:numRef>
              <c:f>'tpo 5 Bar chart'!$R$4:$U$4</c:f>
              <c:numCache>
                <c:formatCode>_-[$$-409]* #,##0.00_ ;_-[$$-409]* \-#,##0.00\ ;_-[$$-409]* "-"??_ ;_-@_ </c:formatCode>
                <c:ptCount val="4"/>
                <c:pt idx="0">
                  <c:v>3083.4300000000003</c:v>
                </c:pt>
                <c:pt idx="1">
                  <c:v>-1665.0522000000001</c:v>
                </c:pt>
                <c:pt idx="2" formatCode="General">
                  <c:v>7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C5-4DC4-B47F-CC9563E3E395}"/>
            </c:ext>
          </c:extLst>
        </c:ser>
        <c:ser>
          <c:idx val="3"/>
          <c:order val="3"/>
          <c:tx>
            <c:strRef>
              <c:f>'tpo 5 Bar chart'!$Q$5</c:f>
              <c:strCache>
                <c:ptCount val="1"/>
                <c:pt idx="0">
                  <c:v>GE 30524EE4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'tpo 5 Bar chart'!$R$1:$U$1</c:f>
              <c:strCache>
                <c:ptCount val="4"/>
                <c:pt idx="0">
                  <c:v>Sales</c:v>
                </c:pt>
                <c:pt idx="1">
                  <c:v>Profit</c:v>
                </c:pt>
                <c:pt idx="2">
                  <c:v>Quantity</c:v>
                </c:pt>
                <c:pt idx="3">
                  <c:v>Discount</c:v>
                </c:pt>
              </c:strCache>
            </c:strRef>
          </c:cat>
          <c:val>
            <c:numRef>
              <c:f>'tpo 5 Bar chart'!$R$5:$U$5</c:f>
              <c:numCache>
                <c:formatCode>_-[$$-409]* #,##0.00_ ;_-[$$-409]* \-#,##0.00\ ;_-[$$-409]* "-"??_ ;_-@_ </c:formatCode>
                <c:ptCount val="4"/>
                <c:pt idx="0">
                  <c:v>1097.5440000000003</c:v>
                </c:pt>
                <c:pt idx="1">
                  <c:v>123.47369999999989</c:v>
                </c:pt>
                <c:pt idx="2" formatCode="General">
                  <c:v>7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C5-4DC4-B47F-CC9563E3E395}"/>
            </c:ext>
          </c:extLst>
        </c:ser>
        <c:ser>
          <c:idx val="4"/>
          <c:order val="4"/>
          <c:tx>
            <c:strRef>
              <c:f>'tpo 5 Bar chart'!$Q$6</c:f>
              <c:strCache>
                <c:ptCount val="1"/>
                <c:pt idx="0">
                  <c:v>Hunt BOSTON Model 1606 High-Volume Electric Pencil Sharpener, Beige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'tpo 5 Bar chart'!$R$1:$U$1</c:f>
              <c:strCache>
                <c:ptCount val="4"/>
                <c:pt idx="0">
                  <c:v>Sales</c:v>
                </c:pt>
                <c:pt idx="1">
                  <c:v>Profit</c:v>
                </c:pt>
                <c:pt idx="2">
                  <c:v>Quantity</c:v>
                </c:pt>
                <c:pt idx="3">
                  <c:v>Discount</c:v>
                </c:pt>
              </c:strCache>
            </c:strRef>
          </c:cat>
          <c:val>
            <c:numRef>
              <c:f>'tpo 5 Bar chart'!$R$6:$U$6</c:f>
              <c:numCache>
                <c:formatCode>_-[$$-409]* #,##0.00_ ;_-[$$-409]* \-#,##0.00\ ;_-[$$-409]* "-"??_ ;_-@_ </c:formatCode>
                <c:ptCount val="4"/>
                <c:pt idx="0">
                  <c:v>1113.0240000000001</c:v>
                </c:pt>
                <c:pt idx="1">
                  <c:v>111.30239999999998</c:v>
                </c:pt>
                <c:pt idx="2" formatCode="General">
                  <c:v>8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C5-4DC4-B47F-CC9563E3E3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58476768"/>
        <c:axId val="1058479680"/>
      </c:barChart>
      <c:catAx>
        <c:axId val="1058476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8479680"/>
        <c:crosses val="autoZero"/>
        <c:auto val="1"/>
        <c:lblAlgn val="ctr"/>
        <c:lblOffset val="100"/>
        <c:noMultiLvlLbl val="0"/>
      </c:catAx>
      <c:valAx>
        <c:axId val="1058479680"/>
        <c:scaling>
          <c:orientation val="minMax"/>
        </c:scaling>
        <c:delete val="0"/>
        <c:axPos val="l"/>
        <c:numFmt formatCode="_-[$$-409]* #,##0.00_ ;_-[$$-409]* \-#,##0.0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847676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presentation.xlsx]working 1!PivotTable1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sub</a:t>
            </a:r>
            <a:r>
              <a:rPr lang="en-US" baseline="0"/>
              <a:t> category wise qty</a:t>
            </a:r>
          </a:p>
          <a:p>
            <a:pPr>
              <a:defRPr/>
            </a:pPr>
            <a:r>
              <a:rPr lang="en-US" baseline="0"/>
              <a:t>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'working 1'!$B$3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'working 1'!$A$4:$A$18</c:f>
              <c:strCache>
                <c:ptCount val="14"/>
                <c:pt idx="0">
                  <c:v>Accessories</c:v>
                </c:pt>
                <c:pt idx="1">
                  <c:v>Appliances</c:v>
                </c:pt>
                <c:pt idx="2">
                  <c:v>Art</c:v>
                </c:pt>
                <c:pt idx="3">
                  <c:v>Binders</c:v>
                </c:pt>
                <c:pt idx="4">
                  <c:v>Bookcases</c:v>
                </c:pt>
                <c:pt idx="5">
                  <c:v>Chairs</c:v>
                </c:pt>
                <c:pt idx="6">
                  <c:v>Envelopes</c:v>
                </c:pt>
                <c:pt idx="7">
                  <c:v>Fasteners</c:v>
                </c:pt>
                <c:pt idx="8">
                  <c:v>Furnishings</c:v>
                </c:pt>
                <c:pt idx="9">
                  <c:v>Labels</c:v>
                </c:pt>
                <c:pt idx="10">
                  <c:v>Paper</c:v>
                </c:pt>
                <c:pt idx="11">
                  <c:v>Phones</c:v>
                </c:pt>
                <c:pt idx="12">
                  <c:v>Storage</c:v>
                </c:pt>
                <c:pt idx="13">
                  <c:v>Tables</c:v>
                </c:pt>
              </c:strCache>
            </c:strRef>
          </c:cat>
          <c:val>
            <c:numRef>
              <c:f>'working 1'!$B$4:$B$18</c:f>
              <c:numCache>
                <c:formatCode>General</c:formatCode>
                <c:ptCount val="14"/>
                <c:pt idx="0">
                  <c:v>13</c:v>
                </c:pt>
                <c:pt idx="1">
                  <c:v>24</c:v>
                </c:pt>
                <c:pt idx="2">
                  <c:v>38</c:v>
                </c:pt>
                <c:pt idx="3">
                  <c:v>54</c:v>
                </c:pt>
                <c:pt idx="4">
                  <c:v>12</c:v>
                </c:pt>
                <c:pt idx="5">
                  <c:v>29</c:v>
                </c:pt>
                <c:pt idx="6">
                  <c:v>18</c:v>
                </c:pt>
                <c:pt idx="7">
                  <c:v>7</c:v>
                </c:pt>
                <c:pt idx="8">
                  <c:v>41</c:v>
                </c:pt>
                <c:pt idx="9">
                  <c:v>10</c:v>
                </c:pt>
                <c:pt idx="10">
                  <c:v>24</c:v>
                </c:pt>
                <c:pt idx="11">
                  <c:v>41</c:v>
                </c:pt>
                <c:pt idx="12">
                  <c:v>39</c:v>
                </c:pt>
                <c:pt idx="1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B2-4215-92F4-0019D17AE0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992459823"/>
        <c:axId val="1992458159"/>
      </c:barChart>
      <c:catAx>
        <c:axId val="19924598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2458159"/>
        <c:crosses val="autoZero"/>
        <c:auto val="1"/>
        <c:lblAlgn val="ctr"/>
        <c:lblOffset val="100"/>
        <c:noMultiLvlLbl val="0"/>
      </c:catAx>
      <c:valAx>
        <c:axId val="199245815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92459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presentation.xlsx]working 2!PivotTable2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qtr./year total sales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1343244185422073E-2"/>
          <c:y val="0.28679208318732596"/>
          <c:w val="0.88558581764529731"/>
          <c:h val="0.470386233369164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'working 2'!$B$3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'working 2'!$A$4:$A$22</c:f>
              <c:multiLvlStrCache>
                <c:ptCount val="14"/>
                <c:lvl>
                  <c:pt idx="0">
                    <c:v>Qtr2</c:v>
                  </c:pt>
                  <c:pt idx="1">
                    <c:v>Qtr3</c:v>
                  </c:pt>
                  <c:pt idx="2">
                    <c:v>Qtr4</c:v>
                  </c:pt>
                  <c:pt idx="3">
                    <c:v>Qtr1</c:v>
                  </c:pt>
                  <c:pt idx="4">
                    <c:v>Qtr2</c:v>
                  </c:pt>
                  <c:pt idx="5">
                    <c:v>Qtr3</c:v>
                  </c:pt>
                  <c:pt idx="6">
                    <c:v>Qtr4</c:v>
                  </c:pt>
                  <c:pt idx="7">
                    <c:v>Qtr1</c:v>
                  </c:pt>
                  <c:pt idx="8">
                    <c:v>Qtr2</c:v>
                  </c:pt>
                  <c:pt idx="9">
                    <c:v>Qtr3</c:v>
                  </c:pt>
                  <c:pt idx="10">
                    <c:v>Qtr4</c:v>
                  </c:pt>
                  <c:pt idx="11">
                    <c:v>Qtr2</c:v>
                  </c:pt>
                  <c:pt idx="12">
                    <c:v>Qtr3</c:v>
                  </c:pt>
                  <c:pt idx="13">
                    <c:v>Qtr4</c:v>
                  </c:pt>
                </c:lvl>
                <c:lvl>
                  <c:pt idx="0">
                    <c:v>2014</c:v>
                  </c:pt>
                  <c:pt idx="3">
                    <c:v>2015</c:v>
                  </c:pt>
                  <c:pt idx="7">
                    <c:v>2016</c:v>
                  </c:pt>
                  <c:pt idx="11">
                    <c:v>2017</c:v>
                  </c:pt>
                </c:lvl>
              </c:multiLvlStrCache>
            </c:multiLvlStrRef>
          </c:cat>
          <c:val>
            <c:numRef>
              <c:f>'working 2'!$B$4:$B$22</c:f>
              <c:numCache>
                <c:formatCode>0</c:formatCode>
                <c:ptCount val="14"/>
                <c:pt idx="0">
                  <c:v>3769.8040000000001</c:v>
                </c:pt>
                <c:pt idx="1">
                  <c:v>244.76000000000002</c:v>
                </c:pt>
                <c:pt idx="2">
                  <c:v>2214.422</c:v>
                </c:pt>
                <c:pt idx="3">
                  <c:v>99.260000000000019</c:v>
                </c:pt>
                <c:pt idx="4">
                  <c:v>1424.4250000000002</c:v>
                </c:pt>
                <c:pt idx="5">
                  <c:v>4575.0480000000016</c:v>
                </c:pt>
                <c:pt idx="6">
                  <c:v>2546.5467000000003</c:v>
                </c:pt>
                <c:pt idx="7">
                  <c:v>165.65800000000002</c:v>
                </c:pt>
                <c:pt idx="8">
                  <c:v>1195.6579999999997</c:v>
                </c:pt>
                <c:pt idx="9">
                  <c:v>260.53999999999996</c:v>
                </c:pt>
                <c:pt idx="10">
                  <c:v>3815.3500000000004</c:v>
                </c:pt>
                <c:pt idx="11">
                  <c:v>368.82400000000001</c:v>
                </c:pt>
                <c:pt idx="12">
                  <c:v>333.20600000000002</c:v>
                </c:pt>
                <c:pt idx="13">
                  <c:v>426.40600000000006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10-49C9-ABDA-791956BFB0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968929071"/>
        <c:axId val="968936559"/>
      </c:barChart>
      <c:catAx>
        <c:axId val="9689290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8936559"/>
        <c:crosses val="autoZero"/>
        <c:auto val="1"/>
        <c:lblAlgn val="ctr"/>
        <c:lblOffset val="100"/>
        <c:noMultiLvlLbl val="0"/>
      </c:catAx>
      <c:valAx>
        <c:axId val="968936559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9689290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presentation.xlsx]working 3!PivotTable3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segment wise qty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1685297708932377"/>
          <c:y val="0.16368691430786819"/>
          <c:w val="0.30481695944891113"/>
          <c:h val="0.74245609199140528"/>
        </c:manualLayout>
      </c:layout>
      <c:doughnutChart>
        <c:varyColors val="1"/>
        <c:ser>
          <c:idx val="0"/>
          <c:order val="0"/>
          <c:tx>
            <c:strRef>
              <c:f>'working 3'!$B$3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9D5-4BFA-8E0B-8ECD3DFB0306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9D5-4BFA-8E0B-8ECD3DFB030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9D5-4BFA-8E0B-8ECD3DFB0306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'working 3'!$A$4:$A$7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'working 3'!$B$4:$B$7</c:f>
              <c:numCache>
                <c:formatCode>General</c:formatCode>
                <c:ptCount val="3"/>
                <c:pt idx="0">
                  <c:v>218</c:v>
                </c:pt>
                <c:pt idx="1">
                  <c:v>96</c:v>
                </c:pt>
                <c:pt idx="2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9D5-4BFA-8E0B-8ECD3DFB03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832077444971595"/>
          <c:y val="4.8554995976115498E-2"/>
          <c:w val="0.17506967510237106"/>
          <c:h val="0.717061380920483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presentation.xlsx]working 4!PivotTable4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region wise profit</a:t>
            </a:r>
          </a:p>
        </c:rich>
      </c:tx>
      <c:layout>
        <c:manualLayout>
          <c:xMode val="edge"/>
          <c:yMode val="edge"/>
          <c:x val="0.24373367967408374"/>
          <c:y val="5.53050112033313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13017953961870196"/>
          <c:y val="0.21313360253480299"/>
          <c:w val="0.28778675745330745"/>
          <c:h val="0.75803977051002491"/>
        </c:manualLayout>
      </c:layout>
      <c:doughnutChart>
        <c:varyColors val="1"/>
        <c:ser>
          <c:idx val="0"/>
          <c:order val="0"/>
          <c:tx>
            <c:strRef>
              <c:f>'working 4'!$B$3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FDD-4EBC-BA0E-DBF38110FE9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FDD-4EBC-BA0E-DBF38110FE9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FDD-4EBC-BA0E-DBF38110FE9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FDD-4EBC-BA0E-DBF38110FE99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'working 4'!$A$4:$A$8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'working 4'!$B$4:$B$8</c:f>
              <c:numCache>
                <c:formatCode>0</c:formatCode>
                <c:ptCount val="4"/>
                <c:pt idx="0">
                  <c:v>43.44019999999977</c:v>
                </c:pt>
                <c:pt idx="1">
                  <c:v>-1188.4077</c:v>
                </c:pt>
                <c:pt idx="2">
                  <c:v>-39.463300000000118</c:v>
                </c:pt>
                <c:pt idx="3">
                  <c:v>1059.9216999999999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FDD-4EBC-BA0E-DBF38110FE9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753616718711372"/>
          <c:y val="3.350238686580502E-2"/>
          <c:w val="0.19585428236497329"/>
          <c:h val="0.95993737265225787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976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44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08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039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012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612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848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43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12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694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314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113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459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381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85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90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676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B02091-5D36-4131-97F1-0DA480FC262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66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9" r:id="rId1"/>
    <p:sldLayoutId id="2147484210" r:id="rId2"/>
    <p:sldLayoutId id="2147484211" r:id="rId3"/>
    <p:sldLayoutId id="2147484212" r:id="rId4"/>
    <p:sldLayoutId id="2147484213" r:id="rId5"/>
    <p:sldLayoutId id="2147484214" r:id="rId6"/>
    <p:sldLayoutId id="2147484215" r:id="rId7"/>
    <p:sldLayoutId id="2147484216" r:id="rId8"/>
    <p:sldLayoutId id="2147484217" r:id="rId9"/>
    <p:sldLayoutId id="2147484218" r:id="rId10"/>
    <p:sldLayoutId id="2147484219" r:id="rId11"/>
    <p:sldLayoutId id="2147484220" r:id="rId12"/>
    <p:sldLayoutId id="2147484221" r:id="rId13"/>
    <p:sldLayoutId id="2147484222" r:id="rId14"/>
    <p:sldLayoutId id="2147484223" r:id="rId15"/>
    <p:sldLayoutId id="2147484224" r:id="rId16"/>
    <p:sldLayoutId id="21474842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F6411-96E5-4E0F-9D02-9593DBCE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9" y="1871132"/>
            <a:ext cx="6815669" cy="881034"/>
          </a:xfrm>
        </p:spPr>
        <p:txBody>
          <a:bodyPr>
            <a:normAutofit fontScale="90000"/>
          </a:bodyPr>
          <a:lstStyle/>
          <a:p>
            <a:r>
              <a:rPr lang="en-US" sz="6000" i="1" dirty="0">
                <a:solidFill>
                  <a:schemeClr val="tx1"/>
                </a:solidFill>
                <a:highlight>
                  <a:srgbClr val="008080"/>
                </a:highlight>
              </a:rPr>
              <a:t>Sales Project</a:t>
            </a:r>
            <a:endParaRPr lang="en-IN" sz="6000" i="1" dirty="0">
              <a:solidFill>
                <a:schemeClr val="tx1"/>
              </a:solidFill>
              <a:highlight>
                <a:srgbClr val="008080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C36622-0B4C-4C4D-8608-82913EAAF7E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92399" y="3046235"/>
            <a:ext cx="6815667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Report FY 2014–2017 (XVY Corp.)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Subtitle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Performance Overview &amp;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                             By </a:t>
            </a:r>
            <a:r>
              <a:rPr lang="en-US" altLang="en-US" sz="2400" b="1" i="1" dirty="0">
                <a:latin typeface="Arial" panose="020B0604020202020204" pitchFamily="34" charset="0"/>
              </a:rPr>
              <a:t>BHANU</a:t>
            </a:r>
            <a:r>
              <a:rPr lang="en-US" altLang="en-US" sz="2400" dirty="0">
                <a:latin typeface="Arial" panose="020B0604020202020204" pitchFamily="34" charset="0"/>
              </a:rPr>
              <a:t> &amp; </a:t>
            </a:r>
            <a:r>
              <a:rPr lang="en-US" altLang="en-US" sz="2400" b="1" i="1" dirty="0">
                <a:latin typeface="Arial" panose="020B0604020202020204" pitchFamily="34" charset="0"/>
              </a:rPr>
              <a:t>NISHANT</a:t>
            </a:r>
            <a:endParaRPr kumimoji="0" lang="en-US" altLang="en-US" sz="2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DA016E1-D5A6-41D3-8AF2-64A4303CD82A}"/>
              </a:ext>
            </a:extLst>
          </p:cNvPr>
          <p:cNvSpPr/>
          <p:nvPr/>
        </p:nvSpPr>
        <p:spPr>
          <a:xfrm>
            <a:off x="3863788" y="4661647"/>
            <a:ext cx="1274244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2566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973E2-DFB2-48E5-A0A4-0BA30934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i="1" dirty="0">
                <a:solidFill>
                  <a:schemeClr val="tx1"/>
                </a:solidFill>
                <a:highlight>
                  <a:srgbClr val="008080"/>
                </a:highlight>
              </a:rPr>
              <a:t>Executive Summary</a:t>
            </a:r>
            <a:r>
              <a:rPr lang="en-US" sz="6000" i="1" dirty="0">
                <a:solidFill>
                  <a:schemeClr val="tx1"/>
                </a:solidFill>
                <a:highlight>
                  <a:srgbClr val="008080"/>
                </a:highlight>
              </a:rPr>
              <a:t> </a:t>
            </a:r>
            <a:endParaRPr lang="en-IN" sz="6000" i="1" dirty="0">
              <a:solidFill>
                <a:schemeClr val="tx1"/>
              </a:solidFill>
              <a:highlight>
                <a:srgbClr val="008080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7483AD-9A7B-4E7F-8D33-7B5234BEC7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0907" y="2421458"/>
            <a:ext cx="6629399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Profit 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–$124.5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(loss)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Total Sales :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$21,439.9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Total Orders : 99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Quantity 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367 units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Avg Discount : $ 0.16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Avg Quantity : 3.17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082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2A86C-B2D1-42ED-82FD-F97E0DBD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63388"/>
            <a:ext cx="9601196" cy="1281954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3200" kern="0" dirty="0">
                <a:solidFill>
                  <a:schemeClr val="bg1">
                    <a:lumMod val="95000"/>
                  </a:schemeClr>
                </a:solidFill>
                <a:effectLst/>
                <a:highlight>
                  <a:srgbClr val="0080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300" i="1" kern="0" dirty="0">
                <a:effectLst/>
                <a:highlight>
                  <a:srgbClr val="00808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Sales Trend (2014–2017)</a:t>
            </a:r>
            <a:br>
              <a:rPr lang="en-IN" kern="100" dirty="0">
                <a:solidFill>
                  <a:schemeClr val="bg1">
                    <a:lumMod val="95000"/>
                  </a:schemeClr>
                </a:solidFill>
                <a:effectLst/>
                <a:highlight>
                  <a:srgbClr val="008080"/>
                </a:highlight>
                <a:latin typeface="Aptos"/>
                <a:ea typeface="Aptos"/>
                <a:cs typeface="Times New Roman" panose="02020603050405020304" pitchFamily="18" charset="0"/>
              </a:rPr>
            </a:br>
            <a:endParaRPr lang="en-IN" dirty="0">
              <a:solidFill>
                <a:schemeClr val="bg1">
                  <a:lumMod val="95000"/>
                </a:schemeClr>
              </a:solidFill>
              <a:highlight>
                <a:srgbClr val="00808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D7C23-4CCE-4879-B796-FF0A1DA3D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660" y="2539003"/>
            <a:ext cx="9601196" cy="3318936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2014: $6,229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2015: $8,645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2016: $5,437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2017: $1,128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Peak: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2015 (Q3 $4,575)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Decline: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2017 shows sharp drop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FA39A6D-FE91-43AC-B4B6-E3D721BDD8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2832580"/>
              </p:ext>
            </p:extLst>
          </p:nvPr>
        </p:nvGraphicFramePr>
        <p:xfrm>
          <a:off x="3943350" y="2420252"/>
          <a:ext cx="7526990" cy="36185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94809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03BF-82E6-409D-80B6-9947843AA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008033"/>
          </a:xfrm>
        </p:spPr>
        <p:txBody>
          <a:bodyPr>
            <a:normAutofit/>
          </a:bodyPr>
          <a:lstStyle/>
          <a:p>
            <a:pPr algn="ctr"/>
            <a:r>
              <a:rPr lang="en-IN" sz="5400" i="1" kern="0" dirty="0">
                <a:effectLst/>
                <a:highlight>
                  <a:srgbClr val="00808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Quantity by Category</a:t>
            </a:r>
            <a:endParaRPr lang="en-IN" sz="5400" i="1" dirty="0">
              <a:highlight>
                <a:srgbClr val="00808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67452-F0EC-40E3-B657-E0FED4B9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071" y="2447365"/>
            <a:ext cx="10605247" cy="3747247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Binders: 54</a:t>
            </a:r>
            <a:endParaRPr lang="en-IN" sz="12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Furnishings: 41</a:t>
            </a:r>
            <a:endParaRPr lang="en-IN" sz="12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Phones: 41</a:t>
            </a:r>
            <a:endParaRPr lang="en-IN" sz="12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Storage: 39</a:t>
            </a:r>
            <a:endParaRPr lang="en-IN" sz="12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Art: 38</a:t>
            </a:r>
            <a:endParaRPr lang="en-IN" sz="12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Chairs: 29</a:t>
            </a:r>
            <a:endParaRPr lang="en-IN" sz="12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Others: </a:t>
            </a:r>
            <a:endParaRPr lang="en-IN" sz="12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B5C9B95-5CC7-459D-BD19-7E581EBBE0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472853"/>
              </p:ext>
            </p:extLst>
          </p:nvPr>
        </p:nvGraphicFramePr>
        <p:xfrm>
          <a:off x="2196354" y="2519082"/>
          <a:ext cx="9350188" cy="3356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939024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AC79E-6ABB-465D-B5C0-0DE2CB504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205256"/>
          </a:xfrm>
        </p:spPr>
        <p:txBody>
          <a:bodyPr>
            <a:normAutofit/>
          </a:bodyPr>
          <a:lstStyle/>
          <a:p>
            <a:pPr algn="ctr"/>
            <a:r>
              <a:rPr lang="en-IN" sz="5400" i="1" kern="0" dirty="0">
                <a:effectLst/>
                <a:highlight>
                  <a:srgbClr val="00808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Segment Analysis</a:t>
            </a:r>
            <a:endParaRPr lang="en-IN" sz="5400" i="1" dirty="0">
              <a:highlight>
                <a:srgbClr val="00808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CBF0D-FADE-4C38-91E3-4A2849FF4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Consumer: 218 units (largest share)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Corporate: 96 units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Home Office: 53 units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305099E-555D-4210-8C60-93B68CEF65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8714957"/>
              </p:ext>
            </p:extLst>
          </p:nvPr>
        </p:nvGraphicFramePr>
        <p:xfrm>
          <a:off x="4662751" y="2860123"/>
          <a:ext cx="5306002" cy="2712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404425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8963-4F69-41AF-8A36-FB9988DF8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174376"/>
            <a:ext cx="9601196" cy="744071"/>
          </a:xfrm>
        </p:spPr>
        <p:txBody>
          <a:bodyPr>
            <a:normAutofit fontScale="90000"/>
          </a:bodyPr>
          <a:lstStyle/>
          <a:p>
            <a:br>
              <a:rPr lang="en-IN" sz="18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4944F7C-5990-47F0-BE19-26ABFA573E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6675731"/>
              </p:ext>
            </p:extLst>
          </p:nvPr>
        </p:nvGraphicFramePr>
        <p:xfrm>
          <a:off x="4661648" y="2557463"/>
          <a:ext cx="5437094" cy="31261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7DEBE0E-5653-4B4E-8442-503C91EE80EB}"/>
              </a:ext>
            </a:extLst>
          </p:cNvPr>
          <p:cNvSpPr txBox="1"/>
          <p:nvPr/>
        </p:nvSpPr>
        <p:spPr>
          <a:xfrm>
            <a:off x="3012141" y="1087450"/>
            <a:ext cx="51188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i="1" kern="0" dirty="0">
                <a:effectLst/>
                <a:highlight>
                  <a:srgbClr val="00808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Regional Profit</a:t>
            </a:r>
            <a:endParaRPr lang="en-IN" sz="5400" i="1" dirty="0">
              <a:highlight>
                <a:srgbClr val="00808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60C2A-0947-49BD-841B-888B83E9198B}"/>
              </a:ext>
            </a:extLst>
          </p:cNvPr>
          <p:cNvSpPr txBox="1"/>
          <p:nvPr/>
        </p:nvSpPr>
        <p:spPr>
          <a:xfrm>
            <a:off x="1295402" y="2391376"/>
            <a:ext cx="4280645" cy="2075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West: +$1,059.9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Central: +$43.4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South: -$39.5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East: -$1,188.4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 Profit: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-$124.5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5723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BB45-3CE9-4BD2-B213-66A80E007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kern="0" dirty="0">
                <a:effectLst/>
                <a:highlight>
                  <a:srgbClr val="00808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 5 Products (by Sales)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3FB2F-A867-44B2-B74E-092FF54CE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5" y="2556932"/>
            <a:ext cx="4903693" cy="2463303"/>
          </a:xfrm>
        </p:spPr>
        <p:txBody>
          <a:bodyPr>
            <a:normAutofit fontScale="85000" lnSpcReduction="10000"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Riverside Palais Royal Bookcase – $3,083 (loss: -$1,665)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Chromcraft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Conference Table – $1,706 (profit: $85)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Bretford Slim Rectangular Table – $1,044 (profit: $240)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Mitel 5320 IP Phone – $907 (profit: $90)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Konftel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250 Conference Phone – $911 (profit: $68)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F0F7343-108D-4FDF-8D7C-392B924B2A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082407"/>
              </p:ext>
            </p:extLst>
          </p:nvPr>
        </p:nvGraphicFramePr>
        <p:xfrm>
          <a:off x="5360893" y="2429435"/>
          <a:ext cx="6212541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232945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1FD77-8CCF-4781-95BB-61E15F389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i="1" dirty="0">
                <a:highlight>
                  <a:srgbClr val="008080"/>
                </a:highlight>
              </a:rPr>
              <a:t>DASHBOARD</a:t>
            </a:r>
            <a:endParaRPr lang="en-IN" sz="5400" i="1" dirty="0">
              <a:highlight>
                <a:srgbClr val="008080"/>
              </a:highligh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5C9B95-5CC7-459D-BD19-7E581EBBE0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6043793"/>
              </p:ext>
            </p:extLst>
          </p:nvPr>
        </p:nvGraphicFramePr>
        <p:xfrm>
          <a:off x="771524" y="2429435"/>
          <a:ext cx="5028641" cy="1972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906521E-421C-44E1-9AFC-B41D6CCCC4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6894362"/>
              </p:ext>
            </p:extLst>
          </p:nvPr>
        </p:nvGraphicFramePr>
        <p:xfrm>
          <a:off x="5856013" y="2398766"/>
          <a:ext cx="5493305" cy="1980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305099E-555D-4210-8C60-93B68CEF65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8932070"/>
              </p:ext>
            </p:extLst>
          </p:nvPr>
        </p:nvGraphicFramePr>
        <p:xfrm>
          <a:off x="942976" y="4379261"/>
          <a:ext cx="4913037" cy="2017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4944F7C-5990-47F0-BE19-26ABFA573E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7864595"/>
              </p:ext>
            </p:extLst>
          </p:nvPr>
        </p:nvGraphicFramePr>
        <p:xfrm>
          <a:off x="6027465" y="4301197"/>
          <a:ext cx="4960105" cy="1909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6096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1EFFA1-F185-400A-8F45-7DF458E19A34}"/>
              </a:ext>
            </a:extLst>
          </p:cNvPr>
          <p:cNvSpPr txBox="1"/>
          <p:nvPr/>
        </p:nvSpPr>
        <p:spPr>
          <a:xfrm flipH="1">
            <a:off x="1276350" y="1705535"/>
            <a:ext cx="80962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highlight>
                  <a:srgbClr val="008080"/>
                </a:highlight>
              </a:rPr>
              <a:t>THANK YOU</a:t>
            </a:r>
            <a:endParaRPr lang="en-IN" sz="8800" dirty="0">
              <a:highlight>
                <a:srgbClr val="008080"/>
              </a:highlight>
            </a:endParaRPr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DEBF5B16-DDF2-41B2-9DBE-1841CE0DB907}"/>
              </a:ext>
            </a:extLst>
          </p:cNvPr>
          <p:cNvSpPr/>
          <p:nvPr/>
        </p:nvSpPr>
        <p:spPr>
          <a:xfrm>
            <a:off x="7154731" y="3245224"/>
            <a:ext cx="2683921" cy="2462157"/>
          </a:xfrm>
          <a:prstGeom prst="smileyFace">
            <a:avLst>
              <a:gd name="adj" fmla="val 4653"/>
            </a:avLst>
          </a:prstGeom>
          <a:blipFill>
            <a:blip r:embed="rId2"/>
            <a:tile tx="0" ty="0" sx="100000" sy="100000" flip="none" algn="tl"/>
          </a:blip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6757D45B-E75B-42F1-AB93-AF1E66BB5411}"/>
              </a:ext>
            </a:extLst>
          </p:cNvPr>
          <p:cNvSpPr/>
          <p:nvPr/>
        </p:nvSpPr>
        <p:spPr>
          <a:xfrm>
            <a:off x="6924675" y="5753100"/>
            <a:ext cx="45719" cy="45719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176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272</TotalTime>
  <Words>270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Garamond</vt:lpstr>
      <vt:lpstr>Symbol</vt:lpstr>
      <vt:lpstr>Times New Roman</vt:lpstr>
      <vt:lpstr>Organic</vt:lpstr>
      <vt:lpstr>Sales Project</vt:lpstr>
      <vt:lpstr>Executive Summary </vt:lpstr>
      <vt:lpstr> Sales Trend (2014–2017) </vt:lpstr>
      <vt:lpstr>Quantity by Category</vt:lpstr>
      <vt:lpstr>Segment Analysis</vt:lpstr>
      <vt:lpstr> </vt:lpstr>
      <vt:lpstr>Top 5 Products (by Sales)</vt:lpstr>
      <vt:lpstr>DASHBOARD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project</dc:title>
  <dc:creator>bhanu pratap</dc:creator>
  <cp:lastModifiedBy>bhanu pratap</cp:lastModifiedBy>
  <cp:revision>23</cp:revision>
  <dcterms:created xsi:type="dcterms:W3CDTF">2026-01-07T07:45:00Z</dcterms:created>
  <dcterms:modified xsi:type="dcterms:W3CDTF">2026-01-08T07:08:35Z</dcterms:modified>
</cp:coreProperties>
</file>